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4CD982-CB4D-4340-97E9-F0CEC05415A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with the problem: healthcare claim review needs evidence, transparency, and human oversight. Introduce ClinIQ as a proof of concept, not a production adjudication tool.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50DAAC-D410-4875-8889-059082B582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that TPO does not mean the prototype must treat patients or pay claims. It means the evidence supports treatment, payment review, and operational reviewer action.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DB7C5A-C8D2-4468-A967-5A65FC2DCE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this slide to show why the project intentionally avoids final approve or deny language. The core design is transparency.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CA681-CC28-48FE-8C13-A411057DEC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the proof-of-concept boundary. The system starts from structured JSON, not raw PDFs. This keeps it focused on Topic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F3D042-8F88-4F7B-820D-CFB49FA5BF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Walk through the exact workflow you implemented. Emphasize retry and verification as the agentic improvements.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2EB671-06A1-4206-B4DF-7AED65366A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that agentic does not mean many chatbots. It means staged reasoning with tool use, quality checks, retries, and verification boundaries.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112020-9956-4BCD-8853-BA5362AF04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most important slide for limitations. Say the limitation is intentional and transparent, not a failure.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F6874-063A-422E-99C1-A1EFDDF997F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is for demo setup. Keep it short and then switch to Streamlit during the video.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65C90B-AFA7-49C6-B5B2-64D079478B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this slide to show the report format. Say the report is a decision-support artifact and does not approve, deny, or adjudicate claims.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9E8933-BC31-43BB-9310-AA9ABDCBE5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should answer limitations before they ask. Make the limitation sound like an intentional safety and governance feature.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6887A-3534-489A-A097-682968BCF1B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this slide to address prediction, clustering, and time-series anomaly detection as future work requiring longitudinal datasets.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171AD8-53D5-4D49-A0B5-FEC6A88C40A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End with confidence. The prototype is not production-grade, but it clearly proves the core idea.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981E62-EAD9-4882-8A7E-C04CF8DAC7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77240" y="105156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ClinIQ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04600" y="18288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Agentic Clinical Pattern Recognition and Decision Support Platform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242316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Evidence-aware healthcare claim review support - not automated adjudication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543800" y="1051560"/>
            <a:ext cx="3200040" cy="54828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616880" y="1143000"/>
            <a:ext cx="305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Pattern Recognition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543800" y="1828800"/>
            <a:ext cx="3200040" cy="548280"/>
          </a:xfrm>
          <a:prstGeom prst="roundRect">
            <a:avLst>
              <a:gd name="adj" fmla="val 13333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616880" y="1920240"/>
            <a:ext cx="305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Online RAG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543800" y="2606040"/>
            <a:ext cx="3200040" cy="548280"/>
          </a:xfrm>
          <a:prstGeom prst="roundRect">
            <a:avLst>
              <a:gd name="adj" fmla="val 13333"/>
            </a:avLst>
          </a:prstGeom>
          <a:solidFill>
            <a:srgbClr val="f2f6e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616880" y="2697480"/>
            <a:ext cx="305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Verification-Aware Reasoning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543800" y="3383280"/>
            <a:ext cx="3200040" cy="54828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616880" y="3474720"/>
            <a:ext cx="305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Reviewer Report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9144000" y="1600200"/>
            <a:ext cx="360" cy="22860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144000" y="2377440"/>
            <a:ext cx="360" cy="22860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144000" y="3154680"/>
            <a:ext cx="360" cy="22860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2960" y="5989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Shashidhar Reddy Kanaparthi | Cotiviti Intern Assessment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Selected Topic and Interpretation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Clinical Decision Making and Pattern Recognition in Healthcare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685800" y="1417320"/>
            <a:ext cx="5394600" cy="182844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50320" y="1545480"/>
            <a:ext cx="506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Official topic focus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50320" y="1856160"/>
            <a:ext cx="50655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Chain reasoning, agentic generative AI, classification, prediction, inference, clustering, and anomaly detection for Treatment, Payment, and Operations.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6263640" y="1417320"/>
            <a:ext cx="5211720" cy="1828440"/>
          </a:xfrm>
          <a:prstGeom prst="roundRect">
            <a:avLst>
              <a:gd name="adj" fmla="val 4000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6428160" y="1545480"/>
            <a:ext cx="488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Our scoped interpretation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428160" y="1856160"/>
            <a:ext cx="4882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ClinIQ focuses on decision support for healthcare claim review: pattern recognition, evidence retrieval, verification-aware reasoning, and reviewer recommendations.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777240" y="3703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Topic mapping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822960" y="4251960"/>
            <a:ext cx="3108600" cy="68544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96040" y="4343400"/>
            <a:ext cx="296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Treatment evidence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(clinical facts)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4526280" y="4251960"/>
            <a:ext cx="3108600" cy="68544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4599360" y="4343400"/>
            <a:ext cx="296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Payment context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(claim review)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8229600" y="4251960"/>
            <a:ext cx="3108600" cy="68544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302680" y="4343400"/>
            <a:ext cx="296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Operations context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(manual verification)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3931920" y="4599360"/>
            <a:ext cx="59436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7635240" y="4599360"/>
            <a:ext cx="59436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Problem: Evidence Review Is Hard to Scale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Claim reviewers must compare clinical facts, coding, policy, and verification gaps.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640080" y="1371600"/>
            <a:ext cx="3474360" cy="182844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804600" y="1499760"/>
            <a:ext cx="314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Manual burden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804600" y="1810440"/>
            <a:ext cx="31453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Reviewers must inspect diagnosis, procedures, medical necessity, payer policy, benefits, provider status, and authorization records.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4343400" y="1371600"/>
            <a:ext cx="3565800" cy="18284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4507920" y="1499760"/>
            <a:ext cx="323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Information gaps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4507920" y="1810440"/>
            <a:ext cx="32367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Public evidence can support coding and clinical context, but internal payer systems are needed for member benefits, authorization, and provider validation.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8138160" y="137160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fceeef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8302680" y="149976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Risk of over-automation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8302680" y="1810440"/>
            <a:ext cx="30538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A system that hides uncertainty can produce unsafe or unsupported conclusions. Human review must remain final.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777240" y="3749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Design response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868680" y="434340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Evidence first. Recommendations second. Human decision ultimatum.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ClinIQ Product Vision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A decision intelligence assistant for evidence-aware healthcare claim review.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822960" y="1828800"/>
            <a:ext cx="2102760" cy="73116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896040" y="1920240"/>
            <a:ext cx="195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Structured Claim JSON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3383280" y="1828800"/>
            <a:ext cx="2102760" cy="731160"/>
          </a:xfrm>
          <a:prstGeom prst="roundRect">
            <a:avLst>
              <a:gd name="adj" fmla="val 10000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3456360" y="1920240"/>
            <a:ext cx="195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Agentic Workflow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5943600" y="1828800"/>
            <a:ext cx="2102760" cy="73116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6016680" y="1920240"/>
            <a:ext cx="195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Evidence + Verification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8503920" y="1828800"/>
            <a:ext cx="2285640" cy="731160"/>
          </a:xfrm>
          <a:prstGeom prst="roundRect">
            <a:avLst>
              <a:gd name="adj" fmla="val 10000"/>
            </a:avLst>
          </a:prstGeom>
          <a:solidFill>
            <a:srgbClr val="f2f6e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8577000" y="1920240"/>
            <a:ext cx="2139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Decision Intelligence Report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2926080" y="2194560"/>
            <a:ext cx="45720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5486400" y="2194560"/>
            <a:ext cx="45720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8046720" y="2194560"/>
            <a:ext cx="45720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868680" y="3200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What ClinIQ does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1005840" y="36576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Detects claim-level clinical and coding patterns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1005840" y="40690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Retrieves public evidence with online RAG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1005840" y="44805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7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Separates public evidence from internal verification needs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1005840" y="489204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Produces reviewer-oriented recommendations only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6583680" y="3200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What ClinIQ does not do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6720840" y="36576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Does not approve, deny, or adjudicate claims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6720840" y="40690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Does not access private payer/provider systems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6720840" y="4480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Does not replace authorized reviewers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System Architecture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The prototype demonstrates the full evidence-analysis chain.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41148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48456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Validate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JSON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170964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187452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94760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Pattern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Recognition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317268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333756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341064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Query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Planning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463572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480060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487368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Online RAG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Retrieval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609876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626364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633672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Evidence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Quality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756180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772668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779976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Verification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Agent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902484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918972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926280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Decision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Intelligence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10487880" y="2322360"/>
            <a:ext cx="1648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10652760" y="1965960"/>
            <a:ext cx="1298160" cy="712800"/>
          </a:xfrm>
          <a:prstGeom prst="roundRect">
            <a:avLst>
              <a:gd name="adj" fmla="val 10256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10725840" y="2057400"/>
            <a:ext cx="1151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PDF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Report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3566160" y="3200400"/>
            <a:ext cx="5211720" cy="639720"/>
          </a:xfrm>
          <a:prstGeom prst="chevron">
            <a:avLst>
              <a:gd name="adj" fmla="val 50000"/>
            </a:avLst>
          </a:prstGeom>
          <a:solidFill>
            <a:srgbClr val="f2f6e9"/>
          </a:solidFill>
          <a:ln w="12700">
            <a:solidFill>
              <a:srgbClr val="d9e8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7"/>
          <p:cNvSpPr/>
          <p:nvPr/>
        </p:nvSpPr>
        <p:spPr>
          <a:xfrm>
            <a:off x="3840480" y="338328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Retry retrieval once if evidence quality is weak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731520" y="4389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Main idea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822960" y="48006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The project is not a single LLM prompt. It is a chain of specialized stages that inspect, retrieve, verify, reason, and report.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0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1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Agentic Workflow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Each stage has a specific responsibility.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685800" y="1371600"/>
            <a:ext cx="2742840" cy="12798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50320" y="1499760"/>
            <a:ext cx="2413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Pattern Agent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850320" y="1810440"/>
            <a:ext cx="2413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Detects clinical/coding patterns, missing internal-review items, and documentation triggers.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3611880" y="1371600"/>
            <a:ext cx="2834280" cy="1279800"/>
          </a:xfrm>
          <a:prstGeom prst="roundRect">
            <a:avLst>
              <a:gd name="adj" fmla="val 5714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3776400" y="1499760"/>
            <a:ext cx="2505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Query Planner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3776400" y="1810440"/>
            <a:ext cx="2505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Creates case-specific online retrieval queries for clinical, policy, coding, and medical necessity evidence.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6629400" y="1371600"/>
            <a:ext cx="2742840" cy="1279800"/>
          </a:xfrm>
          <a:prstGeom prst="roundRect">
            <a:avLst>
              <a:gd name="adj" fmla="val 5714"/>
            </a:avLst>
          </a:prstGeom>
          <a:solidFill>
            <a:srgbClr val="fff4e5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6793920" y="1499760"/>
            <a:ext cx="2413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Evidence Quality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6793920" y="1810440"/>
            <a:ext cx="2413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Checks whether retrieved evidence is adequate and can trigger one retry when evidence is weak.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1325880" y="3246120"/>
            <a:ext cx="3291480" cy="1325520"/>
          </a:xfrm>
          <a:prstGeom prst="roundRect">
            <a:avLst>
              <a:gd name="adj" fmla="val 5517"/>
            </a:avLst>
          </a:prstGeom>
          <a:solidFill>
            <a:srgbClr val="f2f6e9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1490400" y="337428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Verification Agent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1490400" y="3684960"/>
            <a:ext cx="29624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Separates public evidence from internal checks such as payer policy, authorization, provider/NPI, and benefits.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4983480" y="3246120"/>
            <a:ext cx="3291480" cy="1325520"/>
          </a:xfrm>
          <a:prstGeom prst="roundRect">
            <a:avLst>
              <a:gd name="adj" fmla="val 5517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5148000" y="337428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Decision Intelligence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5148000" y="3684960"/>
            <a:ext cx="29624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Synthesizes patterns + evidence + verification status into a reviewer-oriented recommendation.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8"/>
          <p:cNvSpPr/>
          <p:nvPr/>
        </p:nvSpPr>
        <p:spPr>
          <a:xfrm>
            <a:off x="8641080" y="3246120"/>
            <a:ext cx="2468520" cy="1325520"/>
          </a:xfrm>
          <a:prstGeom prst="roundRect">
            <a:avLst>
              <a:gd name="adj" fmla="val 5517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9"/>
          <p:cNvSpPr/>
          <p:nvPr/>
        </p:nvSpPr>
        <p:spPr>
          <a:xfrm>
            <a:off x="8805600" y="3374280"/>
            <a:ext cx="2139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Report Agent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8805600" y="3684960"/>
            <a:ext cx="21394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Creates a concise PDF report with evidence, verification gaps, and suggested reviewer actions.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2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RAG and Verification-Aware Design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Public evidence helps, but internal verification remains necessary.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822960" y="1691640"/>
            <a:ext cx="2742840" cy="822600"/>
          </a:xfrm>
          <a:prstGeom prst="roundRect">
            <a:avLst>
              <a:gd name="adj" fmla="val 8889"/>
            </a:avLst>
          </a:prstGeom>
          <a:solidFill>
            <a:srgbClr val="e6f7f7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896040" y="1783080"/>
            <a:ext cx="259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Online RAG retrieves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public evidence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3977640" y="1691640"/>
            <a:ext cx="2742840" cy="822600"/>
          </a:xfrm>
          <a:prstGeom prst="roundRect">
            <a:avLst>
              <a:gd name="adj" fmla="val 8889"/>
            </a:avLst>
          </a:prstGeom>
          <a:solidFill>
            <a:srgbClr val="fff4e5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4050720" y="1783080"/>
            <a:ext cx="259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Evidence Quality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checks relevance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7132320" y="1691640"/>
            <a:ext cx="2834280" cy="822600"/>
          </a:xfrm>
          <a:prstGeom prst="roundRect">
            <a:avLst>
              <a:gd name="adj" fmla="val 8889"/>
            </a:avLst>
          </a:prstGeom>
          <a:solidFill>
            <a:srgbClr val="fceeef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7205400" y="1783080"/>
            <a:ext cx="268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Verification Agent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flags internal gaps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3566160" y="2103120"/>
            <a:ext cx="4114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6720840" y="2103120"/>
            <a:ext cx="411480" cy="360"/>
          </a:xfrm>
          <a:prstGeom prst="line">
            <a:avLst/>
          </a:prstGeom>
          <a:ln w="17780">
            <a:solidFill>
              <a:srgbClr val="00a6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868680" y="315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Knowledge categories used in the POC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868680" y="3657600"/>
            <a:ext cx="2422800" cy="95976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033200" y="3785760"/>
            <a:ext cx="209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Clinical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1033200" y="4096440"/>
            <a:ext cx="20937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diagnosis and treatment context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3611880" y="3657600"/>
            <a:ext cx="2422800" cy="959760"/>
          </a:xfrm>
          <a:prstGeom prst="roundRect">
            <a:avLst>
              <a:gd name="adj" fmla="val 7619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3776400" y="3785760"/>
            <a:ext cx="209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Policies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3776400" y="4096440"/>
            <a:ext cx="20937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public coverage and policy guidance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6355080" y="3657600"/>
            <a:ext cx="2422800" cy="95976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6519600" y="3785760"/>
            <a:ext cx="209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Coding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6519600" y="4096440"/>
            <a:ext cx="20937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ICD/CPT code references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1"/>
          <p:cNvSpPr/>
          <p:nvPr/>
        </p:nvSpPr>
        <p:spPr>
          <a:xfrm>
            <a:off x="9098280" y="3657600"/>
            <a:ext cx="2422800" cy="959760"/>
          </a:xfrm>
          <a:prstGeom prst="roundRect">
            <a:avLst>
              <a:gd name="adj" fmla="val 7619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9262800" y="3785760"/>
            <a:ext cx="209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Medical Necessity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9262800" y="4096440"/>
            <a:ext cx="20937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documentation and support criteria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914400" y="54864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Key transparency principle: ClinIQ never treats missing internal data as if it were verified.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6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Prototype Demonstration 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Streamlit is used for a simple, understandable live demo.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731520" y="1417320"/>
            <a:ext cx="2559960" cy="109692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896040" y="1545480"/>
            <a:ext cx="2230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1. Select case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896040" y="1856160"/>
            <a:ext cx="2230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Choose one of 10 structured claim JSON demo cases.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3566160" y="1417320"/>
            <a:ext cx="2925720" cy="1096920"/>
          </a:xfrm>
          <a:prstGeom prst="roundRect">
            <a:avLst>
              <a:gd name="adj" fmla="val 6667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3730680" y="1545480"/>
            <a:ext cx="259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2. Run agents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730680" y="1856160"/>
            <a:ext cx="2596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The workflow shows progress through pattern, retrieval, verification, decision, and report stages.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6766560" y="1417320"/>
            <a:ext cx="2925720" cy="109692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931080" y="1545480"/>
            <a:ext cx="259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3. Inspect output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6931080" y="1856160"/>
            <a:ext cx="2596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Review evidence, verification status, recommended next action, and download the PDF.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868680" y="31089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Demo narrative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914400" y="356616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The demo should use CASE-HIP-006. It shows an orthopedic claim where public evidence supports the clinical relationship, but payer/provider/authorization checks require internal verification. The system recommends manual review, not approval.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868680" y="4937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What to show live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1005840" y="5349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Workflow progress logs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4114800" y="53492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7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Evidence retrieved and categorized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8046720" y="53492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PDF report download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Generated Decision Intelligence Report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The final artifact is reviewer-oriented and transparent.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/mnt/data/cliniq_report_pages/page-1.png"/>
          <p:cNvPicPr/>
          <p:nvPr/>
        </p:nvPicPr>
        <p:blipFill>
          <a:blip r:embed="rId1"/>
          <a:srcRect l="0" t="5548" r="0" b="5548"/>
          <a:stretch/>
        </p:blipFill>
        <p:spPr>
          <a:xfrm>
            <a:off x="685800" y="1234440"/>
            <a:ext cx="4251600" cy="489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Image 1" descr="/mnt/data/cliniq_report_pages/page-2.png"/>
          <p:cNvPicPr/>
          <p:nvPr/>
        </p:nvPicPr>
        <p:blipFill>
          <a:blip r:embed="rId2"/>
          <a:srcRect l="0" t="5548" r="0" b="5548"/>
          <a:stretch/>
        </p:blipFill>
        <p:spPr>
          <a:xfrm>
            <a:off x="5166360" y="1234440"/>
            <a:ext cx="4251600" cy="48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3"/>
          <p:cNvSpPr/>
          <p:nvPr/>
        </p:nvSpPr>
        <p:spPr>
          <a:xfrm>
            <a:off x="9646920" y="141732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Report highlights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9738360" y="18745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Claim key details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9738360" y="22402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Patterns recognized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9738360" y="2606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Online evidence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9738360" y="29718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Internal verification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9738360" y="3337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Recommended next action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Transparency and Boundaries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The prototype is honest about what public RAG can and cannot verify.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822960" y="1371600"/>
            <a:ext cx="3337200" cy="1737000"/>
          </a:xfrm>
          <a:prstGeom prst="roundRect">
            <a:avLst>
              <a:gd name="adj" fmla="val 4211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987480" y="1499760"/>
            <a:ext cx="3008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Publicly retrievable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987480" y="1810440"/>
            <a:ext cx="3008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Clinical guidelines, coding references, public policy pages, medical necessity context.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4434840" y="1371600"/>
            <a:ext cx="3382920" cy="1737000"/>
          </a:xfrm>
          <a:prstGeom prst="roundRect">
            <a:avLst>
              <a:gd name="adj" fmla="val 4211"/>
            </a:avLst>
          </a:prstGeom>
          <a:solidFill>
            <a:srgbClr val="fff4e5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4599360" y="149976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Requires internal systems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4599360" y="1810440"/>
            <a:ext cx="30538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Payer-specific benefits, authorization status, provider network status, member eligibility, contract terms.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8138160" y="1371600"/>
            <a:ext cx="3154320" cy="1737000"/>
          </a:xfrm>
          <a:prstGeom prst="roundRect">
            <a:avLst>
              <a:gd name="adj" fmla="val 4211"/>
            </a:avLst>
          </a:prstGeom>
          <a:solidFill>
            <a:srgbClr val="f2f6e9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8302680" y="1499760"/>
            <a:ext cx="282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Design choice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8302680" y="1810440"/>
            <a:ext cx="28252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ClinIQ labels these gaps explicitly and recommends human verification before final action.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868680" y="3886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Responsible AI position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3"/>
          <p:cNvSpPr/>
          <p:nvPr/>
        </p:nvSpPr>
        <p:spPr>
          <a:xfrm>
            <a:off x="960120" y="44348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The project prioritizes transparency over unsupported automation. It is intentionally a decision-support platform, not a decision maker.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10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Future Roadmap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Natural extensions after the proof of concept.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868680" y="1417320"/>
            <a:ext cx="5074560" cy="123408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1033200" y="154548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Local vector KB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1033200" y="1856160"/>
            <a:ext cx="47455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Curated payer policy and medical necessity repository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6537960" y="1417320"/>
            <a:ext cx="5074560" cy="1234080"/>
          </a:xfrm>
          <a:prstGeom prst="roundRect">
            <a:avLst>
              <a:gd name="adj" fmla="val 5926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7"/>
          <p:cNvSpPr/>
          <p:nvPr/>
        </p:nvSpPr>
        <p:spPr>
          <a:xfrm>
            <a:off x="6702480" y="154548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FHIR/EHR integration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6702480" y="1856160"/>
            <a:ext cx="47455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Replace synthetic JSON with standardized healthcare data feeds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868680" y="3246120"/>
            <a:ext cx="5074560" cy="123408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1033200" y="337428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Historical analytics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1033200" y="3684960"/>
            <a:ext cx="47455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Provider behavior, clustering, and time-series anomaly detection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6537960" y="3246120"/>
            <a:ext cx="5074560" cy="1234080"/>
          </a:xfrm>
          <a:prstGeom prst="roundRect">
            <a:avLst>
              <a:gd name="adj" fmla="val 5926"/>
            </a:avLst>
          </a:prstGeom>
          <a:solidFill>
            <a:srgbClr val="e6f7f7"/>
          </a:solidFill>
          <a:ln w="12700">
            <a:solidFill>
              <a:srgbClr val="d6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6702480" y="337428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Reviewer workbench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4"/>
          <p:cNvSpPr/>
          <p:nvPr/>
        </p:nvSpPr>
        <p:spPr>
          <a:xfrm>
            <a:off x="6702480" y="3684960"/>
            <a:ext cx="47455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Case queue, audit trail, reviewer feedback, and final disposition capture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914400" y="553212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Important: these are future extensions, not claims about the current hackathon demo.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7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11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02920" y="3200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f4e79"/>
                </a:solidFill>
                <a:effectLst/>
                <a:uFillTx/>
                <a:latin typeface="Aptos Display"/>
                <a:ea typeface="Aptos Display"/>
              </a:rPr>
              <a:t>Conclusion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521280" y="74988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f6b76"/>
                </a:solidFill>
                <a:effectLst/>
                <a:uFillTx/>
                <a:latin typeface="Aptos"/>
              </a:rPr>
              <a:t>ClinIQ proves the concept with a practical, transparent workflow.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502920" y="1051560"/>
            <a:ext cx="11155680" cy="360"/>
          </a:xfrm>
          <a:prstGeom prst="line">
            <a:avLst/>
          </a:prstGeom>
          <a:ln w="1778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685800" y="2286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f4e79"/>
                </a:solidFill>
                <a:effectLst/>
                <a:uFillTx/>
                <a:latin typeface="Aptos"/>
              </a:rPr>
              <a:t>What the prototype demonstrates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686160" y="27432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Agentic workflow for healthcare decision support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686160" y="315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Pattern recognition over structured claim data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686160" y="35661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Online RAG with evidence-quality checks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686160" y="39776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Verification-aware recommendations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686160" y="43891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700" strike="noStrike" u="none">
                <a:solidFill>
                  <a:srgbClr val="23313f"/>
                </a:solidFill>
                <a:effectLst/>
                <a:uFillTx/>
                <a:latin typeface="Aptos"/>
              </a:rPr>
              <a:t>PDF reporting for human reviewers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6583680" y="1417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6629400" y="1965960"/>
            <a:ext cx="4343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7315560" y="31546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Thank you !!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502920" y="65196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ClinIQ | Agentic Clinical Decision Intelligence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11521440" y="6519600"/>
            <a:ext cx="228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d6d6d"/>
                </a:solidFill>
                <a:effectLst/>
                <a:uFillTx/>
                <a:latin typeface="Aptos"/>
              </a:rPr>
              <a:t>12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LibreOffice/25.2.3.2$Linux_X86_64 LibreOffice_project/520$Build-2</Application>
  <AppVersion>15.0000</AppVersion>
  <Words>0</Words>
  <Paragraphs>0</Paragraphs>
  <Company>University of Colorado Boulder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2026-07-03T05:07:52Z</dcterms:created>
  <dc:creator>Shashidhar Reddy Kanaparthi</dc:creator>
  <dc:description/>
  <dc:language>en-US</dc:language>
  <cp:lastModifiedBy/>
  <dcterms:modified xsi:type="dcterms:W3CDTF">2026-07-05T02:26:27Z</dcterms:modified>
  <cp:revision>2</cp:revision>
  <dc:subject>ClinIQ Assessment Presentation</dc:subject>
  <dc:title>ClinIQ: Agentic Clinical Pattern Recognition and Decision Support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